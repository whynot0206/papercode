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753" r:id="rId4"/>
    <p:sldId id="5198" r:id="rId6"/>
    <p:sldId id="5183" r:id="rId7"/>
    <p:sldId id="5184" r:id="rId8"/>
    <p:sldId id="5199" r:id="rId9"/>
    <p:sldId id="5200" r:id="rId10"/>
    <p:sldId id="5187" r:id="rId11"/>
    <p:sldId id="5188" r:id="rId12"/>
    <p:sldId id="5189" r:id="rId13"/>
    <p:sldId id="5190" r:id="rId14"/>
    <p:sldId id="5191" r:id="rId15"/>
    <p:sldId id="5201" r:id="rId16"/>
    <p:sldId id="5203" r:id="rId17"/>
    <p:sldId id="5202" r:id="rId18"/>
    <p:sldId id="5204" r:id="rId19"/>
    <p:sldId id="5192" r:id="rId20"/>
    <p:sldId id="5193" r:id="rId21"/>
    <p:sldId id="5194" r:id="rId22"/>
    <p:sldId id="5195" r:id="rId23"/>
    <p:sldId id="5205" r:id="rId24"/>
    <p:sldId id="5206" r:id="rId25"/>
    <p:sldId id="5213" r:id="rId26"/>
    <p:sldId id="5208" r:id="rId27"/>
    <p:sldId id="5209" r:id="rId28"/>
    <p:sldId id="5210" r:id="rId29"/>
    <p:sldId id="5211" r:id="rId30"/>
    <p:sldId id="5212" r:id="rId31"/>
    <p:sldId id="5216" r:id="rId32"/>
    <p:sldId id="5214" r:id="rId33"/>
    <p:sldId id="5215" r:id="rId34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5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5" orient="horz" pos="1200" userDrawn="1">
          <p15:clr>
            <a:srgbClr val="A4A3A4"/>
          </p15:clr>
        </p15:guide>
        <p15:guide id="6" orient="horz" pos="45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黎钰晖" initials="黎钰晖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20F"/>
    <a:srgbClr val="530107"/>
    <a:srgbClr val="90020C"/>
    <a:srgbClr val="FC2C3B"/>
    <a:srgbClr val="FE828B"/>
    <a:srgbClr val="FFFFFF"/>
    <a:srgbClr val="5B0107"/>
    <a:srgbClr val="A0020D"/>
    <a:srgbClr val="CE0211"/>
    <a:srgbClr val="EB02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6" autoAdjust="0"/>
    <p:restoredTop sz="85306" autoAdjust="0"/>
  </p:normalViewPr>
  <p:slideViewPr>
    <p:cSldViewPr snapToObjects="1" showGuides="1">
      <p:cViewPr varScale="1">
        <p:scale>
          <a:sx n="96" d="100"/>
          <a:sy n="96" d="100"/>
        </p:scale>
        <p:origin x="360" y="68"/>
      </p:cViewPr>
      <p:guideLst>
        <p:guide orient="horz" pos="799"/>
        <p:guide pos="3840"/>
        <p:guide pos="435"/>
        <p:guide pos="529"/>
        <p:guide orient="horz" pos="1200"/>
        <p:guide orient="horz" pos="455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gs" Target="tags/tag13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96FF5-E657-7748-A5FF-BF4A71B50E4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包括年份，标题，作者，直接截图，标题和内容等翻译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解决什么问题：这个领域的范问题是什么</a:t>
            </a:r>
            <a:endParaRPr lang="en-US" altLang="zh-CN" dirty="0"/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问题公式化：把需要解决的问题抽象成数学表达式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现有工作有哪些欠考虑的（摘要提到的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However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作者做了什么（摘要提到，作者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propose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了什么）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作者的动机是什么（引言第一段话）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现有方法是怎么做的（引言第二段话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-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第三段话）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现有方法面临的主要挑战（引言明确提出的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limitations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，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challenges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）</a:t>
            </a:r>
            <a:endParaRPr lang="en-US" altLang="zh-CN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分点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作者是如何逐个解决这些挑战的（为了解决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xx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挑战，分别提出了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xx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设计，每一点都要详细记录下来）</a:t>
            </a:r>
            <a:endParaRPr lang="en-US" altLang="zh-CN" dirty="0"/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和挑战的点对应上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作者的主要贡献是什么（作者直接点明了自己的主要贡献，通常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2-4</a:t>
            </a:r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点）</a:t>
            </a:r>
            <a:endParaRPr lang="zh-CN" altLang="en-US" sz="1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论文中的框架大图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技术细节（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Solution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技术细节（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Solution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技术细节（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Solution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技术细节（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Solution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技术细节（</a:t>
            </a:r>
            <a:r>
              <a:rPr lang="en-US" altLang="zh-CN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Solution</a:t>
            </a: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论文中使用了什么数据集，都是什么领域的，每个数据集用一两句话概括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对比了什么模型，几几年谁发的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是否开源；训练参数及超参数；实现设备</a:t>
            </a:r>
            <a:endParaRPr lang="en-US" altLang="zh-CN" dirty="0"/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如果开源附上链接</a:t>
            </a:r>
            <a:endParaRPr lang="en-US" altLang="zh-CN" dirty="0"/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具体程序训练的是哪些参数，以及使用了什么超参数</a:t>
            </a:r>
            <a:endParaRPr lang="en-US" altLang="zh-CN" dirty="0"/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用什么设备实现（比如</a:t>
            </a:r>
            <a:r>
              <a:rPr lang="en-US" altLang="zh-CN" dirty="0"/>
              <a:t>A100</a:t>
            </a:r>
            <a:r>
              <a:rPr lang="zh-CN" altLang="en-US" dirty="0"/>
              <a:t>还是</a:t>
            </a:r>
            <a:r>
              <a:rPr lang="en-US" altLang="zh-CN" dirty="0"/>
              <a:t>4090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实验（放图，放结论）</a:t>
            </a:r>
            <a:endParaRPr lang="zh-CN" altLang="en-US" sz="12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53263-A727-CA4B-B39B-DB32D94897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4117" y="84715"/>
            <a:ext cx="1485961" cy="147388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1" y="1800224"/>
            <a:ext cx="12192000" cy="3971925"/>
          </a:xfrm>
          <a:prstGeom prst="rect">
            <a:avLst/>
          </a:prstGeom>
          <a:solidFill>
            <a:srgbClr val="C2262C">
              <a:alpha val="85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" y="2488209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Title</a:t>
            </a:r>
            <a:endParaRPr kumimoji="1" sz="4000" dirty="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1" y="4952763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Comic Sans MS" panose="030F0702030302020204" pitchFamily="66" charset="0"/>
                <a:ea typeface="Hei" pitchFamily="2" charset="-122"/>
              </a:rPr>
              <a:t>Speaker</a:t>
            </a:r>
            <a:r>
              <a:rPr kumimoji="1" lang="en-US" dirty="0">
                <a:solidFill>
                  <a:schemeClr val="bg1"/>
                </a:solidFill>
                <a:latin typeface="Comic Sans MS" panose="030F0702030302020204" pitchFamily="66" charset="0"/>
                <a:ea typeface="Hei" pitchFamily="2" charset="-122"/>
              </a:rPr>
              <a:t>:</a:t>
            </a:r>
            <a:r>
              <a:rPr kumimoji="1" lang="zh-CN" altLang="en-US" dirty="0">
                <a:solidFill>
                  <a:schemeClr val="bg1"/>
                </a:solidFill>
                <a:latin typeface="Comic Sans MS" panose="030F0702030302020204" pitchFamily="66" charset="0"/>
                <a:ea typeface="Hei" pitchFamily="2" charset="-122"/>
              </a:rPr>
              <a:t> </a:t>
            </a:r>
            <a:endParaRPr kumimoji="1" dirty="0">
              <a:solidFill>
                <a:schemeClr val="bg1"/>
              </a:solidFill>
              <a:latin typeface="Comic Sans MS" panose="030F0702030302020204" pitchFamily="66" charset="0"/>
              <a:ea typeface="Hei" pitchFamily="2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711235" y="6488671"/>
            <a:ext cx="10480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latin typeface="Comic Sans MS" panose="030F0702030302020204" pitchFamily="66" charset="0"/>
                <a:cs typeface="Menlo Regular" panose="020B0609030804020204" charset="0"/>
              </a:rPr>
              <a:t>Journal:</a:t>
            </a:r>
            <a:r>
              <a:rPr lang="zh-CN" altLang="en-US" dirty="0">
                <a:latin typeface="Comic Sans MS" panose="030F0702030302020204" pitchFamily="66" charset="0"/>
                <a:cs typeface="Menlo Regular" panose="020B0609030804020204" charset="0"/>
              </a:rPr>
              <a:t> ****</a:t>
            </a:r>
            <a:r>
              <a:rPr lang="en-US" altLang="zh-CN" dirty="0">
                <a:latin typeface="Comic Sans MS" panose="030F0702030302020204" pitchFamily="66" charset="0"/>
                <a:cs typeface="Menlo Regular" panose="020B0609030804020204" charset="0"/>
              </a:rPr>
              <a:t>,</a:t>
            </a:r>
            <a:r>
              <a:rPr lang="zh-CN" altLang="en-US" dirty="0">
                <a:latin typeface="Comic Sans MS" panose="030F0702030302020204" pitchFamily="66" charset="0"/>
                <a:cs typeface="Menlo Regular" panose="020B0609030804020204" charset="0"/>
              </a:rPr>
              <a:t>  </a:t>
            </a:r>
            <a:r>
              <a:rPr lang="en-US" altLang="zh-CN" dirty="0">
                <a:latin typeface="Comic Sans MS" panose="030F0702030302020204" pitchFamily="66" charset="0"/>
                <a:cs typeface="Menlo Regular" panose="020B0609030804020204" charset="0"/>
              </a:rPr>
              <a:t>IF=</a:t>
            </a:r>
            <a:r>
              <a:rPr lang="zh-CN" altLang="en-US" dirty="0">
                <a:latin typeface="Comic Sans MS" panose="030F0702030302020204" pitchFamily="66" charset="0"/>
                <a:cs typeface="Menlo Regular" panose="020B0609030804020204" charset="0"/>
              </a:rPr>
              <a:t>***</a:t>
            </a:r>
            <a:r>
              <a:rPr lang="en-US" altLang="zh-CN" dirty="0">
                <a:latin typeface="Comic Sans MS" panose="030F0702030302020204" pitchFamily="66" charset="0"/>
                <a:cs typeface="Menlo Regular" panose="020B0609030804020204" charset="0"/>
              </a:rPr>
              <a:t>,</a:t>
            </a:r>
            <a:r>
              <a:rPr lang="zh-CN" altLang="en-US" dirty="0">
                <a:latin typeface="Comic Sans MS" panose="030F0702030302020204" pitchFamily="66" charset="0"/>
                <a:cs typeface="Menlo Regular" panose="020B0609030804020204" charset="0"/>
              </a:rPr>
              <a:t> </a:t>
            </a:r>
            <a:r>
              <a:rPr lang="en-US" altLang="zh-CN" dirty="0">
                <a:latin typeface="Comic Sans MS" panose="030F0702030302020204" pitchFamily="66" charset="0"/>
                <a:cs typeface="Menlo Regular" panose="020B0609030804020204" charset="0"/>
              </a:rPr>
              <a:t>SCI</a:t>
            </a:r>
            <a:r>
              <a:rPr lang="zh-CN" altLang="en-US" dirty="0">
                <a:latin typeface="Comic Sans MS" panose="030F0702030302020204" pitchFamily="66" charset="0"/>
                <a:cs typeface="Menlo Regular" panose="020B0609030804020204" charset="0"/>
              </a:rPr>
              <a:t> </a:t>
            </a:r>
            <a:r>
              <a:rPr lang="en-US" altLang="zh-CN" dirty="0">
                <a:latin typeface="Comic Sans MS" panose="030F0702030302020204" pitchFamily="66" charset="0"/>
                <a:cs typeface="Menlo Regular" panose="020B0609030804020204" charset="0"/>
              </a:rPr>
              <a:t>1,</a:t>
            </a:r>
            <a:r>
              <a:rPr lang="zh-CN" altLang="en-US" dirty="0">
                <a:latin typeface="Comic Sans MS" panose="030F0702030302020204" pitchFamily="66" charset="0"/>
                <a:cs typeface="Menlo Regular" panose="020B0609030804020204" charset="0"/>
              </a:rPr>
              <a:t> </a:t>
            </a:r>
            <a:r>
              <a:rPr lang="en-US" altLang="zh-CN" dirty="0">
                <a:latin typeface="Comic Sans MS" panose="030F0702030302020204" pitchFamily="66" charset="0"/>
                <a:cs typeface="Menlo Regular" panose="020B0609030804020204" charset="0"/>
              </a:rPr>
              <a:t>TOP</a:t>
            </a:r>
            <a:endParaRPr lang="en-US" altLang="zh-CN" dirty="0">
              <a:latin typeface="Comic Sans MS" panose="030F0702030302020204" pitchFamily="66" charset="0"/>
              <a:cs typeface="Menlo Regular" panose="020B060903080402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4" y="532209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Comic Sans MS" panose="030F0702030302020204" pitchFamily="66" charset="0"/>
                <a:ea typeface="Hei" pitchFamily="2" charset="-122"/>
              </a:rPr>
              <a:t>Team</a:t>
            </a:r>
            <a:r>
              <a:rPr kumimoji="1" lang="zh-CN" altLang="en-US" dirty="0">
                <a:solidFill>
                  <a:schemeClr val="bg1"/>
                </a:solidFill>
                <a:latin typeface="Comic Sans MS" panose="030F0702030302020204" pitchFamily="66" charset="0"/>
                <a:ea typeface="Hei" pitchFamily="2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Comic Sans MS" panose="030F0702030302020204" pitchFamily="66" charset="0"/>
                <a:ea typeface="Hei" pitchFamily="2" charset="-122"/>
              </a:rPr>
              <a:t>Members</a:t>
            </a:r>
            <a:r>
              <a:rPr kumimoji="1" lang="en-US" dirty="0">
                <a:solidFill>
                  <a:schemeClr val="bg1"/>
                </a:solidFill>
                <a:latin typeface="Comic Sans MS" panose="030F0702030302020204" pitchFamily="66" charset="0"/>
                <a:ea typeface="Hei" pitchFamily="2" charset="-122"/>
              </a:rPr>
              <a:t>:</a:t>
            </a:r>
            <a:r>
              <a:rPr kumimoji="1" lang="zh-CN" altLang="en-US" dirty="0">
                <a:solidFill>
                  <a:schemeClr val="bg1"/>
                </a:solidFill>
                <a:latin typeface="Comic Sans MS" panose="030F0702030302020204" pitchFamily="66" charset="0"/>
                <a:ea typeface="Hei" pitchFamily="2" charset="-122"/>
              </a:rPr>
              <a:t> </a:t>
            </a:r>
            <a:endParaRPr kumimoji="1" dirty="0">
              <a:solidFill>
                <a:schemeClr val="bg1"/>
              </a:solidFill>
              <a:latin typeface="Comic Sans MS" panose="030F0702030302020204" pitchFamily="66" charset="0"/>
              <a:ea typeface="Hei" pitchFamily="2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" y="3786186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Author</a:t>
            </a:r>
            <a:r>
              <a:rPr kumimoji="1" lang="en-US" altLang="zh-CN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1,2</a:t>
            </a:r>
            <a:endParaRPr kumimoji="1" lang="en-US" altLang="zh-CN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College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Science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Electronic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Engineering,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Hunan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University</a:t>
            </a:r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Science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Department,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College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Engineering,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Shantou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University</a:t>
            </a:r>
            <a:endParaRPr kumimoj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校训+校徽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569271"/>
            <a:ext cx="12192000" cy="2887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566794" y="6569271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0" spc="600" dirty="0">
                <a:solidFill>
                  <a:schemeClr val="bg1"/>
                </a:solidFill>
                <a:latin typeface="+mn-ea"/>
                <a:ea typeface="+mn-ea"/>
              </a:rPr>
              <a:t>严谨严格，求实求是</a:t>
            </a:r>
            <a:endParaRPr lang="zh-CN" altLang="en-US" sz="1200" b="0" spc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9325474" y="6574404"/>
            <a:ext cx="2299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b="0" spc="300" dirty="0" err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TianGong</a:t>
            </a:r>
            <a:r>
              <a:rPr lang="en-US" altLang="zh-CN" sz="1200" b="0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University</a:t>
            </a:r>
            <a:endParaRPr lang="zh-CN" altLang="en-US" sz="1200" b="0" spc="3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0400" y="76835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形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0440" y="269333"/>
            <a:ext cx="453600" cy="435104"/>
          </a:xfrm>
          <a:prstGeom prst="rect">
            <a:avLst/>
          </a:prstGeom>
        </p:spPr>
      </p:pic>
      <p:pic>
        <p:nvPicPr>
          <p:cNvPr id="7" name="图片 6" descr="卡通人物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0" y="233860"/>
            <a:ext cx="1576760" cy="45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校训+校徽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569271"/>
            <a:ext cx="12192000" cy="2887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566794" y="6569271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0" spc="600" dirty="0">
                <a:solidFill>
                  <a:schemeClr val="bg1"/>
                </a:solidFill>
                <a:latin typeface="+mn-ea"/>
                <a:ea typeface="+mn-ea"/>
              </a:rPr>
              <a:t>严谨严格，求实求是</a:t>
            </a:r>
            <a:endParaRPr lang="zh-CN" altLang="en-US" sz="1200" b="0" spc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9325474" y="6574404"/>
            <a:ext cx="2299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b="0" spc="300" dirty="0" err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TianGong</a:t>
            </a:r>
            <a:r>
              <a:rPr lang="en-US" altLang="zh-CN" sz="1200" b="0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University</a:t>
            </a:r>
            <a:endParaRPr lang="zh-CN" altLang="en-US" sz="1200" b="0" spc="3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0400" y="76835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形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0440" y="269333"/>
            <a:ext cx="453600" cy="435104"/>
          </a:xfrm>
          <a:prstGeom prst="rect">
            <a:avLst/>
          </a:prstGeom>
        </p:spPr>
      </p:pic>
      <p:pic>
        <p:nvPicPr>
          <p:cNvPr id="7" name="图片 6" descr="卡通人物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0" y="233860"/>
            <a:ext cx="1576760" cy="45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校训+校徽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569271"/>
            <a:ext cx="12192000" cy="2887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566794" y="6569271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0" spc="600" dirty="0">
                <a:solidFill>
                  <a:schemeClr val="bg1"/>
                </a:solidFill>
                <a:latin typeface="+mn-ea"/>
                <a:ea typeface="+mn-ea"/>
              </a:rPr>
              <a:t>严谨严格，求实求是</a:t>
            </a:r>
            <a:endParaRPr lang="zh-CN" altLang="en-US" sz="1200" b="0" spc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9325474" y="6574404"/>
            <a:ext cx="2299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b="0" spc="300" dirty="0" err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TianGong</a:t>
            </a:r>
            <a:r>
              <a:rPr lang="en-US" altLang="zh-CN" sz="1200" b="0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University</a:t>
            </a:r>
            <a:endParaRPr lang="zh-CN" altLang="en-US" sz="1200" b="0" spc="3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0400" y="76835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形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0440" y="269333"/>
            <a:ext cx="453600" cy="435104"/>
          </a:xfrm>
          <a:prstGeom prst="rect">
            <a:avLst/>
          </a:prstGeom>
        </p:spPr>
      </p:pic>
      <p:pic>
        <p:nvPicPr>
          <p:cNvPr id="7" name="图片 6" descr="卡通人物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0" y="233860"/>
            <a:ext cx="1576760" cy="45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AA729-C11E-104F-8026-5224F44D08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34CCA-0B70-7147-9AE4-F00C97BD4EE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4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4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24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2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16022" y="0"/>
            <a:ext cx="648072" cy="1268760"/>
          </a:xfrm>
          <a:prstGeom prst="rect">
            <a:avLst/>
          </a:prstGeom>
          <a:solidFill>
            <a:srgbClr val="B202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0" name="矩形 9"/>
          <p:cNvSpPr/>
          <p:nvPr/>
        </p:nvSpPr>
        <p:spPr>
          <a:xfrm>
            <a:off x="316022" y="980728"/>
            <a:ext cx="648072" cy="143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99456" y="493431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年份，标题，作者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1557020"/>
            <a:ext cx="9918700" cy="34480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15640" y="1188720"/>
            <a:ext cx="57683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Traffic-MoE:</a:t>
            </a:r>
            <a:r>
              <a:rPr lang="zh-CN" altLang="en-US" sz="2000">
                <a:sym typeface="+mn-ea"/>
              </a:rPr>
              <a:t>一种稀疏的网络流量分析基础模型</a:t>
            </a:r>
            <a:endParaRPr lang="zh-CN" altLang="en-US" sz="200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665" y="5157470"/>
            <a:ext cx="1418590" cy="240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16022" y="0"/>
            <a:ext cx="648072" cy="1268760"/>
          </a:xfrm>
          <a:prstGeom prst="rect">
            <a:avLst/>
          </a:prstGeom>
          <a:solidFill>
            <a:srgbClr val="B202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0" name="矩形 9"/>
          <p:cNvSpPr/>
          <p:nvPr/>
        </p:nvSpPr>
        <p:spPr>
          <a:xfrm>
            <a:off x="316022" y="980728"/>
            <a:ext cx="648072" cy="143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99456" y="493431"/>
            <a:ext cx="9433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这是什么领域，解决什么问题，问题公式化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99515" y="1268730"/>
            <a:ext cx="6993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这是什么领域：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网络安全与网络流量</a:t>
            </a:r>
            <a:r>
              <a:rPr lang="zh-CN" altLang="en-US">
                <a:sym typeface="+mn-ea"/>
              </a:rPr>
              <a:t>分析。</a:t>
            </a:r>
            <a:endParaRPr lang="zh-CN" altLang="en-US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9515" y="1913890"/>
            <a:ext cx="102812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解决什么问题：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该领域主要解决在加密、异构和高速网络环境中，如何有效识别恶意活动（如僵尸网络、入侵检测）、分类服务类型以及分析流量行为的问题，特别是在不仅要求高准确率还要求满足实时性、低延迟部署需求的情况下。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9515" y="30689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问题公式化：</a:t>
            </a:r>
            <a:endParaRPr lang="zh-CN" altLang="en-US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205" y="3124200"/>
            <a:ext cx="7030085" cy="3720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16022" y="0"/>
            <a:ext cx="648072" cy="1268760"/>
          </a:xfrm>
          <a:prstGeom prst="rect">
            <a:avLst/>
          </a:prstGeom>
          <a:solidFill>
            <a:srgbClr val="B202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0" name="矩形 9"/>
          <p:cNvSpPr/>
          <p:nvPr/>
        </p:nvSpPr>
        <p:spPr>
          <a:xfrm>
            <a:off x="316022" y="980728"/>
            <a:ext cx="648072" cy="143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99456" y="493431"/>
            <a:ext cx="8280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现有工作有哪些欠考虑的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1917065"/>
            <a:ext cx="9405620" cy="1812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16022" y="0"/>
            <a:ext cx="648072" cy="1268760"/>
          </a:xfrm>
          <a:prstGeom prst="rect">
            <a:avLst/>
          </a:prstGeom>
          <a:solidFill>
            <a:srgbClr val="B202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0" name="矩形 9"/>
          <p:cNvSpPr/>
          <p:nvPr/>
        </p:nvSpPr>
        <p:spPr>
          <a:xfrm>
            <a:off x="316022" y="980728"/>
            <a:ext cx="648072" cy="143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99456" y="493431"/>
            <a:ext cx="885698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作者做了什么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844675"/>
            <a:ext cx="9575800" cy="3173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16022" y="0"/>
            <a:ext cx="648072" cy="1268760"/>
          </a:xfrm>
          <a:prstGeom prst="rect">
            <a:avLst/>
          </a:prstGeom>
          <a:solidFill>
            <a:srgbClr val="B202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0" name="矩形 9"/>
          <p:cNvSpPr/>
          <p:nvPr/>
        </p:nvSpPr>
        <p:spPr>
          <a:xfrm>
            <a:off x="316022" y="980728"/>
            <a:ext cx="648072" cy="143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99456" y="493431"/>
            <a:ext cx="7200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作者的动机是什么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930" y="1772920"/>
            <a:ext cx="8742045" cy="3291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16022" y="0"/>
            <a:ext cx="648072" cy="1268760"/>
          </a:xfrm>
          <a:prstGeom prst="rect">
            <a:avLst/>
          </a:prstGeom>
          <a:solidFill>
            <a:srgbClr val="B202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0" name="矩形 9"/>
          <p:cNvSpPr/>
          <p:nvPr/>
        </p:nvSpPr>
        <p:spPr>
          <a:xfrm>
            <a:off x="316022" y="980728"/>
            <a:ext cx="648072" cy="143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99456" y="493431"/>
            <a:ext cx="73448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现有方法是怎么做的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1628775"/>
            <a:ext cx="9347835" cy="3319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16022" y="0"/>
            <a:ext cx="648072" cy="1268760"/>
          </a:xfrm>
          <a:prstGeom prst="rect">
            <a:avLst/>
          </a:prstGeom>
          <a:solidFill>
            <a:srgbClr val="B202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199456" y="493431"/>
            <a:ext cx="91450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现有方法面临的主要挑战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 useBgFill="1">
        <p:nvSpPr>
          <p:cNvPr id="6" name="矩形 5"/>
          <p:cNvSpPr/>
          <p:nvPr/>
        </p:nvSpPr>
        <p:spPr>
          <a:xfrm>
            <a:off x="316022" y="980728"/>
            <a:ext cx="648072" cy="143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91489" y="1628800"/>
            <a:ext cx="2884231" cy="4248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</a:rPr>
              <a:t>现有基于</a:t>
            </a:r>
            <a:r>
              <a:rPr lang="en-US" altLang="zh-CN" sz="2000" dirty="0">
                <a:solidFill>
                  <a:schemeClr val="tx1"/>
                </a:solidFill>
              </a:rPr>
              <a:t> Transformer </a:t>
            </a:r>
            <a:r>
              <a:rPr lang="zh-CN" altLang="en-US" sz="2000" dirty="0">
                <a:solidFill>
                  <a:schemeClr val="tx1"/>
                </a:solidFill>
              </a:rPr>
              <a:t>的网络流量分析模型大多采用稠密结构，其计算复杂度与模型参数规模强耦合。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4653884" y="1623481"/>
            <a:ext cx="2884231" cy="4248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</a:rPr>
              <a:t>网络流量在语义层面表现出显著的异构性，不同协议、应用类型以及攻击行为在时序结构和字节模式上差异明显。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8616279" y="1614782"/>
            <a:ext cx="2884231" cy="4248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</a:rPr>
              <a:t>在真实网络环境中，流量</a:t>
            </a:r>
            <a:r>
              <a:rPr lang="en-US" altLang="zh-CN" sz="2000" dirty="0">
                <a:solidFill>
                  <a:schemeClr val="tx1"/>
                </a:solidFill>
              </a:rPr>
              <a:t> payload </a:t>
            </a:r>
            <a:r>
              <a:rPr lang="zh-CN" altLang="en-US" sz="2000" dirty="0">
                <a:solidFill>
                  <a:schemeClr val="tx1"/>
                </a:solidFill>
              </a:rPr>
              <a:t>往往被加密或截断，</a:t>
            </a:r>
            <a:r>
              <a:rPr lang="en-US" altLang="zh-CN" sz="2000" dirty="0">
                <a:solidFill>
                  <a:schemeClr val="tx1"/>
                </a:solidFill>
              </a:rPr>
              <a:t>packet </a:t>
            </a:r>
            <a:r>
              <a:rPr lang="zh-CN" altLang="en-US" sz="2000" dirty="0">
                <a:solidFill>
                  <a:schemeClr val="tx1"/>
                </a:solidFill>
              </a:rPr>
              <a:t>级字段包含大量噪声，不同数据集在采样策略和协议分布上也存在显著差异。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904504" y="1905046"/>
            <a:ext cx="252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挑战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4943872" y="1905046"/>
            <a:ext cx="252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挑战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8959561" y="1905046"/>
            <a:ext cx="252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挑战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16022" y="0"/>
            <a:ext cx="648072" cy="1268760"/>
          </a:xfrm>
          <a:prstGeom prst="rect">
            <a:avLst/>
          </a:prstGeom>
          <a:solidFill>
            <a:srgbClr val="B202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0" name="矩形 9"/>
          <p:cNvSpPr/>
          <p:nvPr/>
        </p:nvSpPr>
        <p:spPr>
          <a:xfrm>
            <a:off x="316022" y="980728"/>
            <a:ext cx="648072" cy="143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99456" y="493431"/>
            <a:ext cx="914501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作者是如何逐个解决这些挑战的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91489" y="1628800"/>
            <a:ext cx="2884231" cy="4248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4653884" y="1623481"/>
            <a:ext cx="2884231" cy="4248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8616279" y="1614782"/>
            <a:ext cx="2884231" cy="4248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802640" y="1793240"/>
            <a:ext cx="2821940" cy="3896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针对挑战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提出了作者采用稀疏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Mixture-of-Experts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MoE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结构替代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Transformer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中的稠密前馈网络。在该设计中，模型整体仍然保持较大的参数容量，但每个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token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在每一层仅通过路由机制激活少量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Top-k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专家，其余专家不参与计算。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4678680" y="1640840"/>
            <a:ext cx="2905760" cy="4664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针对挑战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作者在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MoE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框架中引入共享专家与专用专家相结合的双层专家结构。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其中，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共享专家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在每一层中始终被激活，用于学习跨流量类型稳定存在的通用协议结构和时序规律；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专用专家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则通过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路由网络动态选择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，仅对与其语义匹配的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token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进行处理，从而专注于特定应用或攻击模式的建模。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8687435" y="1651635"/>
            <a:ext cx="2799715" cy="4961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针对挑战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作者提出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Traffic2Token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机制，将包级元数据与少量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payload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字节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统一编码为带有明确结构标记的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token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序列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，从而稳定刻画通信行为而非依赖明文内容。同时，模型采用自回归的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Next Token Prediction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作为预训练目标，使其通过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预测流量序列，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学习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时序逻辑和行为模式。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16022" y="0"/>
            <a:ext cx="648072" cy="1268760"/>
          </a:xfrm>
          <a:prstGeom prst="rect">
            <a:avLst/>
          </a:prstGeom>
          <a:solidFill>
            <a:srgbClr val="B202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0" name="矩形 9"/>
          <p:cNvSpPr/>
          <p:nvPr/>
        </p:nvSpPr>
        <p:spPr>
          <a:xfrm>
            <a:off x="316022" y="980728"/>
            <a:ext cx="648072" cy="143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99456" y="493431"/>
            <a:ext cx="101151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作者的主要贡献是什么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1701165"/>
            <a:ext cx="8758555" cy="3514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架构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882650"/>
            <a:ext cx="10414000" cy="597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27066" y="476921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技术细节（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268730"/>
            <a:ext cx="2616200" cy="53530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83205" y="1412875"/>
            <a:ext cx="89922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ym typeface="+mn-ea"/>
              </a:rPr>
              <a:t>首先使用五元组标识符</a:t>
            </a:r>
            <a:r>
              <a:rPr lang="en-US" altLang="zh-CN" sz="1600" b="1">
                <a:sym typeface="+mn-ea"/>
              </a:rPr>
              <a:t>(</a:t>
            </a:r>
            <a:r>
              <a:rPr lang="zh-CN" altLang="en-US" sz="1600" b="1">
                <a:sym typeface="+mn-ea"/>
              </a:rPr>
              <a:t>源</a:t>
            </a:r>
            <a:r>
              <a:rPr lang="en-US" altLang="zh-CN" sz="1600" b="1">
                <a:sym typeface="+mn-ea"/>
              </a:rPr>
              <a:t>/</a:t>
            </a:r>
            <a:r>
              <a:rPr lang="zh-CN" altLang="en-US" sz="1600" b="1">
                <a:sym typeface="+mn-ea"/>
              </a:rPr>
              <a:t>目标</a:t>
            </a:r>
            <a:r>
              <a:rPr lang="en-US" altLang="zh-CN" sz="1600" b="1">
                <a:sym typeface="+mn-ea"/>
              </a:rPr>
              <a:t>IP</a:t>
            </a:r>
            <a:r>
              <a:rPr lang="zh-CN" altLang="en-US" sz="1600" b="1">
                <a:sym typeface="+mn-ea"/>
              </a:rPr>
              <a:t>、端口和传输协议</a:t>
            </a:r>
            <a:r>
              <a:rPr lang="en-US" altLang="zh-CN" sz="1600" b="1">
                <a:sym typeface="+mn-ea"/>
              </a:rPr>
              <a:t>)</a:t>
            </a:r>
            <a:r>
              <a:rPr lang="zh-CN" altLang="en-US" sz="1600" b="1">
                <a:sym typeface="+mn-ea"/>
              </a:rPr>
              <a:t>从数据包跟踪重建会话级流。删除包含太少数据包的流，以减少统计差异并确保可靠的行为模式</a:t>
            </a:r>
            <a:endParaRPr lang="zh-CN" altLang="en-US" sz="1600" b="1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735580" y="2205355"/>
                <a:ext cx="9456420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 b="1">
                    <a:sym typeface="+mn-ea"/>
                  </a:rPr>
                  <a:t>为了避免引入随机或无关的包头噪声，作者并不直接使用原始包头，而是提取了</a:t>
                </a:r>
                <a:r>
                  <a:rPr lang="en-US" altLang="zh-CN" sz="1600" b="1">
                    <a:sym typeface="+mn-ea"/>
                  </a:rPr>
                  <a:t>6</a:t>
                </a:r>
                <a:r>
                  <a:rPr lang="zh-CN" altLang="en-US" sz="1600" b="1">
                    <a:sym typeface="+mn-ea"/>
                  </a:rPr>
                  <a:t>个关键属性序列化为十六进制字节：</a:t>
                </a:r>
                <a:r>
                  <a:rPr lang="en-US" altLang="zh-CN" sz="1600" b="1">
                    <a:sym typeface="+mn-ea"/>
                  </a:rPr>
                  <a:t>(1).</a:t>
                </a:r>
                <a:r>
                  <a:rPr lang="zh-CN" altLang="en-US" sz="1600" b="1">
                    <a:sym typeface="+mn-ea"/>
                  </a:rPr>
                  <a:t>包长度</a:t>
                </a:r>
                <a:r>
                  <a:rPr lang="en-US" altLang="zh-CN" sz="1600" b="1">
                    <a:sym typeface="+mn-ea"/>
                  </a:rPr>
                  <a:t> </a:t>
                </a:r>
                <a:r>
                  <a:rPr lang="zh-CN" altLang="en-US" sz="1600" b="1">
                    <a:sym typeface="+mn-ea"/>
                  </a:rPr>
                  <a:t>、</a:t>
                </a:r>
                <a:r>
                  <a:rPr lang="en-US" altLang="zh-CN" sz="1600" b="1">
                    <a:sym typeface="+mn-ea"/>
                  </a:rPr>
                  <a:t>(2).</a:t>
                </a:r>
                <a:r>
                  <a:rPr lang="zh-CN" altLang="en-US" sz="1600" b="1">
                    <a:sym typeface="+mn-ea"/>
                  </a:rPr>
                  <a:t>传输方向、</a:t>
                </a:r>
                <a:r>
                  <a:rPr lang="en-US" altLang="zh-CN" sz="1600" b="1">
                    <a:sym typeface="+mn-ea"/>
                  </a:rPr>
                  <a:t>(3).TCP</a:t>
                </a:r>
                <a:r>
                  <a:rPr lang="zh-CN" altLang="en-US" sz="1600" b="1">
                    <a:sym typeface="+mn-ea"/>
                  </a:rPr>
                  <a:t>标志位、</a:t>
                </a:r>
                <a:r>
                  <a:rPr lang="en-US" altLang="zh-CN" sz="1600" b="1">
                    <a:sym typeface="+mn-ea"/>
                  </a:rPr>
                  <a:t>(4).</a:t>
                </a:r>
                <a:r>
                  <a:rPr lang="zh-CN" altLang="en-US" sz="1600" b="1">
                    <a:sym typeface="+mn-ea"/>
                  </a:rPr>
                  <a:t>到达间隔时间</a:t>
                </a:r>
                <a:r>
                  <a:rPr lang="en-US" altLang="zh-CN" sz="1600" b="1">
                    <a:sym typeface="+mn-ea"/>
                  </a:rPr>
                  <a:t> </a:t>
                </a:r>
                <a:r>
                  <a:rPr lang="zh-CN" altLang="en-US" sz="1600" b="1">
                    <a:sym typeface="+mn-ea"/>
                  </a:rPr>
                  <a:t>、</a:t>
                </a:r>
                <a:r>
                  <a:rPr lang="en-US" altLang="zh-CN" sz="1600" b="1">
                    <a:sym typeface="+mn-ea"/>
                  </a:rPr>
                  <a:t>(5).IP</a:t>
                </a:r>
                <a:r>
                  <a:rPr lang="zh-CN" altLang="en-US" sz="1600" b="1">
                    <a:sym typeface="+mn-ea"/>
                  </a:rPr>
                  <a:t>协议类型</a:t>
                </a:r>
                <a:r>
                  <a:rPr lang="en-US" altLang="zh-CN" sz="1600" b="1">
                    <a:sym typeface="+mn-ea"/>
                  </a:rPr>
                  <a:t> </a:t>
                </a:r>
                <a:r>
                  <a:rPr lang="zh-CN" altLang="en-US" sz="1600" b="1">
                    <a:sym typeface="+mn-ea"/>
                  </a:rPr>
                  <a:t>、</a:t>
                </a:r>
                <a:r>
                  <a:rPr lang="en-US" altLang="zh-CN" sz="1600" b="1">
                    <a:sym typeface="+mn-ea"/>
                  </a:rPr>
                  <a:t>(6).</a:t>
                </a:r>
                <a:r>
                  <a:rPr lang="zh-CN" altLang="en-US" sz="1600" b="1">
                    <a:sym typeface="+mn-ea"/>
                  </a:rPr>
                  <a:t>载荷长度。</a:t>
                </a:r>
                <a:r>
                  <a:rPr lang="en-US" altLang="zh-CN" sz="1600" b="1">
                    <a:sym typeface="+mn-ea"/>
                  </a:rPr>
                  <a:t>( </a:t>
                </a:r>
                <a:r>
                  <a:rPr lang="zh-CN" altLang="en-US" sz="1600" b="1">
                    <a:sym typeface="+mn-ea"/>
                  </a:rPr>
                  <a:t>同时，截取每个包的前</a:t>
                </a:r>
                <a:r>
                  <a:rPr lang="en-US" altLang="zh-CN" sz="1600" b="1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𝐉</m:t>
                    </m:r>
                  </m:oMath>
                </a14:m>
                <a:r>
                  <a:rPr lang="en-US" altLang="zh-CN" sz="1600" b="1">
                    <a:sym typeface="+mn-ea"/>
                  </a:rPr>
                  <a:t> </a:t>
                </a:r>
                <a:r>
                  <a:rPr lang="zh-CN" altLang="en-US" sz="1600" b="1">
                    <a:sym typeface="+mn-ea"/>
                  </a:rPr>
                  <a:t>个字节（文中</a:t>
                </a:r>
                <a:r>
                  <a:rPr lang="en-US" altLang="zh-CN" sz="1600" b="1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𝐉</m:t>
                    </m:r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𝟒𝟎</m:t>
                    </m:r>
                  </m:oMath>
                </a14:m>
                <a:r>
                  <a:rPr lang="zh-CN" altLang="en-US" sz="1600" b="1">
                    <a:sym typeface="+mn-ea"/>
                  </a:rPr>
                  <a:t>）作为载荷特征</a:t>
                </a:r>
                <a:r>
                  <a:rPr lang="en-US" altLang="zh-CN" sz="1600" b="1">
                    <a:sym typeface="+mn-ea"/>
                  </a:rPr>
                  <a:t> </a:t>
                </a:r>
                <a:r>
                  <a:rPr lang="zh-CN" altLang="en-US" sz="1600" b="1">
                    <a:sym typeface="+mn-ea"/>
                  </a:rPr>
                  <a:t>。选取每个流的前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 </m:t>
                    </m:r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𝐊</m:t>
                    </m:r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 </m:t>
                    </m:r>
                  </m:oMath>
                </a14:m>
                <a:r>
                  <a:rPr lang="zh-CN" altLang="en-US" sz="1600" b="1">
                    <a:sym typeface="+mn-ea"/>
                  </a:rPr>
                  <a:t>个数据包（文中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 </m:t>
                    </m:r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𝐊</m:t>
                    </m:r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𝟏𝟎</m:t>
                    </m:r>
                  </m:oMath>
                </a14:m>
                <a:r>
                  <a:rPr lang="zh-CN" altLang="en-US" sz="1600" b="1">
                    <a:sym typeface="+mn-ea"/>
                  </a:rPr>
                  <a:t>），按时间顺序拼接其元数据和载荷字节，形成流级别的十六进制序列</a:t>
                </a:r>
                <a:r>
                  <a:rPr lang="en-US" altLang="zh-CN" sz="1600" b="1">
                    <a:sym typeface="+mn-ea"/>
                  </a:rPr>
                  <a:t> </a:t>
                </a:r>
                <a:r>
                  <a:rPr lang="en-US" altLang="zh-CN" sz="1600" b="1">
                    <a:sym typeface="+mn-ea"/>
                  </a:rPr>
                  <a:t>)</a:t>
                </a:r>
                <a:endParaRPr lang="en-US" altLang="zh-CN" sz="1600" b="1">
                  <a:sym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580" y="2205355"/>
                <a:ext cx="9456420" cy="1076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783205" y="3799205"/>
                <a:ext cx="9469120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 b="1">
                    <a:sym typeface="+mn-ea"/>
                  </a:rPr>
                  <a:t>使用滑动窗口将相邻字节对转换为双字节（</a:t>
                </a:r>
                <a:r>
                  <a:rPr lang="en-US" altLang="zh-CN" sz="1600" b="1">
                    <a:sym typeface="+mn-ea"/>
                  </a:rPr>
                  <a:t>Bigram</a:t>
                </a:r>
                <a:r>
                  <a:rPr lang="zh-CN" altLang="en-US" sz="1600" b="1">
                    <a:sym typeface="+mn-ea"/>
                  </a:rPr>
                  <a:t>）；使用</a:t>
                </a:r>
                <a:r>
                  <a:rPr lang="en-US" altLang="zh-CN" sz="1600" b="1">
                    <a:sym typeface="+mn-ea"/>
                  </a:rPr>
                  <a:t> WordPiece </a:t>
                </a:r>
                <a:r>
                  <a:rPr lang="zh-CN" altLang="en-US" sz="1600" b="1">
                    <a:sym typeface="+mn-ea"/>
                  </a:rPr>
                  <a:t>算法构建子字节级词表</a:t>
                </a:r>
                <a:r>
                  <a:rPr lang="en-US" altLang="zh-CN" sz="1600" b="1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𝐕</m:t>
                    </m:r>
                  </m:oMath>
                </a14:m>
                <a:endParaRPr lang="en-US" altLang="zh-CN" sz="1600" b="1">
                  <a:sym typeface="+mn-ea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205" y="3799205"/>
                <a:ext cx="9469120" cy="33718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2735580" y="4653915"/>
            <a:ext cx="9427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ym typeface="+mn-ea"/>
              </a:rPr>
              <a:t>引入特殊标记：</a:t>
            </a:r>
            <a:r>
              <a:rPr lang="en-US" altLang="zh-CN" sz="1600" b="1">
                <a:sym typeface="+mn-ea"/>
              </a:rPr>
              <a:t>[PD]</a:t>
            </a:r>
            <a:r>
              <a:rPr lang="zh-CN" altLang="en-US" sz="1600" b="1">
                <a:sym typeface="+mn-ea"/>
              </a:rPr>
              <a:t>：包序列开始。</a:t>
            </a:r>
            <a:r>
              <a:rPr lang="en-US" altLang="zh-CN" sz="1600" b="1">
                <a:sym typeface="+mn-ea"/>
              </a:rPr>
              <a:t>[PY]</a:t>
            </a:r>
            <a:r>
              <a:rPr lang="zh-CN" altLang="en-US" sz="1600" b="1">
                <a:sym typeface="+mn-ea"/>
              </a:rPr>
              <a:t>：分隔元数据与载荷。</a:t>
            </a:r>
            <a:r>
              <a:rPr lang="en-US" altLang="zh-CN" sz="1600" b="1">
                <a:sym typeface="+mn-ea"/>
              </a:rPr>
              <a:t>[PAD]</a:t>
            </a:r>
            <a:r>
              <a:rPr lang="zh-CN" altLang="en-US" sz="1600" b="1">
                <a:sym typeface="+mn-ea"/>
              </a:rPr>
              <a:t>、</a:t>
            </a:r>
            <a:r>
              <a:rPr lang="en-US" altLang="zh-CN" sz="1600" b="1">
                <a:sym typeface="+mn-ea"/>
              </a:rPr>
              <a:t>[END]</a:t>
            </a:r>
            <a:r>
              <a:rPr lang="zh-CN" altLang="en-US" sz="1600" b="1">
                <a:sym typeface="+mn-ea"/>
              </a:rPr>
              <a:t>、</a:t>
            </a:r>
            <a:r>
              <a:rPr lang="en-US" altLang="zh-CN" sz="1600" b="1">
                <a:sym typeface="+mn-ea"/>
              </a:rPr>
              <a:t>[UNK]</a:t>
            </a:r>
            <a:r>
              <a:rPr lang="zh-CN" altLang="en-US" sz="1600" b="1">
                <a:sym typeface="+mn-ea"/>
              </a:rPr>
              <a:t>：分别用于填充、结束和未知字符。这些结构标记确保在处理长序列时，数据包边界对于模型保持清晰可识别，从而防止平坦字节流中的流信息的语义崩溃。</a:t>
            </a:r>
            <a:endParaRPr lang="zh-CN" altLang="en-US" sz="1600" b="1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755" y="5229225"/>
            <a:ext cx="5029200" cy="1593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55370" y="404495"/>
            <a:ext cx="3072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技术细节（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484630"/>
            <a:ext cx="4419600" cy="521970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4959985" y="188595"/>
            <a:ext cx="6738620" cy="6670040"/>
            <a:chOff x="7811" y="297"/>
            <a:chExt cx="10612" cy="1050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91" y="9821"/>
              <a:ext cx="7230" cy="98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92" y="978"/>
              <a:ext cx="7800" cy="231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61" y="8234"/>
              <a:ext cx="7860" cy="1650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7899" y="297"/>
              <a:ext cx="1052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sym typeface="+mn-ea"/>
                </a:rPr>
                <a:t>旋转</a:t>
              </a:r>
              <a:r>
                <a:rPr lang="zh-CN" altLang="en-US" sz="1400" b="1">
                  <a:sym typeface="+mn-ea"/>
                </a:rPr>
                <a:t>位置编码</a:t>
              </a:r>
              <a:r>
                <a:rPr lang="en-US" altLang="zh-CN" sz="1400" b="1">
                  <a:sym typeface="+mn-ea"/>
                </a:rPr>
                <a:t> (RoPE)</a:t>
              </a:r>
              <a:r>
                <a:rPr lang="zh-CN" altLang="en-US" sz="1400" b="1">
                  <a:sym typeface="+mn-ea"/>
                </a:rPr>
                <a:t>：</a:t>
              </a:r>
              <a:r>
                <a:rPr lang="en-US" altLang="zh-CN" sz="1400">
                  <a:sym typeface="+mn-ea"/>
                </a:rPr>
                <a:t> </a:t>
              </a:r>
              <a:r>
                <a:rPr lang="zh-CN" altLang="en-US" sz="1400">
                  <a:sym typeface="+mn-ea"/>
                </a:rPr>
                <a:t>使用旋转位置编码（</a:t>
              </a:r>
              <a:r>
                <a:rPr lang="en-US" altLang="zh-CN" sz="1400">
                  <a:sym typeface="+mn-ea"/>
                </a:rPr>
                <a:t>RoPE</a:t>
              </a:r>
              <a:r>
                <a:rPr lang="zh-CN" altLang="en-US" sz="1400">
                  <a:sym typeface="+mn-ea"/>
                </a:rPr>
                <a:t>）代替绝对位置编码，以捕获流量</a:t>
              </a:r>
              <a:r>
                <a:rPr lang="en-US" altLang="zh-CN" sz="1400">
                  <a:sym typeface="+mn-ea"/>
                </a:rPr>
                <a:t>Token</a:t>
              </a:r>
              <a:r>
                <a:rPr lang="zh-CN" altLang="en-US" sz="1400">
                  <a:sym typeface="+mn-ea"/>
                </a:rPr>
                <a:t>之间的相对距离（例如攻击签名可能出现在不同偏移量处）。</a:t>
              </a:r>
              <a:endParaRPr lang="zh-CN" altLang="en-US" sz="1400">
                <a:sym typeface="+mn-ea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25" y="2905"/>
              <a:ext cx="9649" cy="190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11" y="4719"/>
              <a:ext cx="10360" cy="3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技术细节（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336540" cy="32105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1345"/>
            <a:ext cx="5765800" cy="1924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305" y="3829050"/>
            <a:ext cx="1917700" cy="3175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955" y="0"/>
            <a:ext cx="6438900" cy="29908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610" y="2990850"/>
            <a:ext cx="4705350" cy="15494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830" y="5556885"/>
            <a:ext cx="4699000" cy="1250950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1612265" y="5130165"/>
            <a:ext cx="8308340" cy="704850"/>
            <a:chOff x="2539" y="8079"/>
            <a:chExt cx="13084" cy="1110"/>
          </a:xfrm>
        </p:grpSpPr>
        <p:grpSp>
          <p:nvGrpSpPr>
            <p:cNvPr id="20" name="组合 19"/>
            <p:cNvGrpSpPr/>
            <p:nvPr/>
          </p:nvGrpSpPr>
          <p:grpSpPr>
            <a:xfrm>
              <a:off x="2539" y="8079"/>
              <a:ext cx="13084" cy="570"/>
              <a:chOff x="1518" y="8423"/>
              <a:chExt cx="13084" cy="570"/>
            </a:xfrm>
          </p:grpSpPr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12" y="8423"/>
                <a:ext cx="6590" cy="570"/>
              </a:xfrm>
              <a:prstGeom prst="rect">
                <a:avLst/>
              </a:prstGeom>
            </p:spPr>
          </p:pic>
          <p:sp>
            <p:nvSpPr>
              <p:cNvPr id="19" name="文本框 18"/>
              <p:cNvSpPr txBox="1"/>
              <p:nvPr/>
            </p:nvSpPr>
            <p:spPr>
              <a:xfrm>
                <a:off x="1518" y="8462"/>
                <a:ext cx="8000" cy="531"/>
              </a:xfrm>
              <a:prstGeom prst="rect">
                <a:avLst/>
              </a:prstGeom>
            </p:spPr>
            <p:txBody>
              <a:bodyPr>
                <a:spAutoFit/>
              </a:bodyPr>
              <a:p>
                <a:r>
                  <a:rPr lang="zh-CN" altLang="en-US" sz="1600" b="1"/>
                  <a:t>所有专家均采用 </a:t>
                </a:r>
                <a:r>
                  <a:rPr lang="en-US" altLang="zh-CN" sz="1600" b="1"/>
                  <a:t>SwiGLU </a:t>
                </a:r>
                <a:r>
                  <a:rPr lang="zh-CN" altLang="en-US" sz="1600" b="1"/>
                  <a:t>激活的前馈网络结构：</a:t>
                </a:r>
                <a:endParaRPr lang="zh-CN" altLang="en-US" sz="1600" b="1"/>
              </a:p>
            </p:txBody>
          </p:sp>
        </p:grp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6" y="8079"/>
              <a:ext cx="5610" cy="1110"/>
            </a:xfrm>
            <a:prstGeom prst="rect">
              <a:avLst/>
            </a:prstGeom>
          </p:spPr>
        </p:pic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1490" y="3429000"/>
            <a:ext cx="2349500" cy="59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技术细节（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484630"/>
            <a:ext cx="4419600" cy="52197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430" y="3357245"/>
            <a:ext cx="5462270" cy="32861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575" y="6106160"/>
            <a:ext cx="1562100" cy="266700"/>
          </a:xfrm>
          <a:prstGeom prst="rect">
            <a:avLst/>
          </a:prstGeom>
        </p:spPr>
      </p:pic>
      <p:sp>
        <p:nvSpPr>
          <p:cNvPr id="14" name="右箭头 13"/>
          <p:cNvSpPr/>
          <p:nvPr/>
        </p:nvSpPr>
        <p:spPr>
          <a:xfrm>
            <a:off x="4439920" y="6154420"/>
            <a:ext cx="260985" cy="144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4727575" y="0"/>
            <a:ext cx="7315200" cy="1414780"/>
            <a:chOff x="7445" y="0"/>
            <a:chExt cx="11520" cy="2228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6" y="1086"/>
              <a:ext cx="7195" cy="1143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45" y="0"/>
              <a:ext cx="11520" cy="1210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/>
        </p:nvGrpSpPr>
        <p:grpSpPr>
          <a:xfrm>
            <a:off x="4943475" y="1628775"/>
            <a:ext cx="7138670" cy="1002665"/>
            <a:chOff x="7785" y="4153"/>
            <a:chExt cx="11242" cy="1579"/>
          </a:xfrm>
        </p:grpSpPr>
        <p:grpSp>
          <p:nvGrpSpPr>
            <p:cNvPr id="19" name="组合 18"/>
            <p:cNvGrpSpPr/>
            <p:nvPr/>
          </p:nvGrpSpPr>
          <p:grpSpPr>
            <a:xfrm>
              <a:off x="7785" y="4153"/>
              <a:ext cx="10283" cy="1040"/>
              <a:chOff x="7672" y="3926"/>
              <a:chExt cx="10283" cy="1040"/>
            </a:xfrm>
          </p:grpSpPr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72" y="3926"/>
                <a:ext cx="6660" cy="1040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15" y="4153"/>
                <a:ext cx="4840" cy="530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/>
          </p:nvSpPr>
          <p:spPr>
            <a:xfrm>
              <a:off x="14703" y="4910"/>
              <a:ext cx="432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ym typeface="+mn-ea"/>
                </a:rPr>
                <a:t>B</a:t>
              </a:r>
              <a:r>
                <a:rPr lang="zh-CN" altLang="en-US" sz="1400" b="1">
                  <a:sym typeface="+mn-ea"/>
                </a:rPr>
                <a:t>代表的是</a:t>
              </a:r>
              <a:r>
                <a:rPr lang="en-US" altLang="zh-CN" sz="1400" b="1">
                  <a:sym typeface="+mn-ea"/>
                </a:rPr>
                <a:t> Batch Size</a:t>
              </a:r>
              <a:r>
                <a:rPr lang="zh-CN" altLang="en-US" sz="1400" b="1">
                  <a:sym typeface="+mn-ea"/>
                </a:rPr>
                <a:t>（批量大小）</a:t>
              </a:r>
              <a:endParaRPr lang="zh-CN" altLang="en-US" sz="1400" b="1">
                <a:sym typeface="+mn-ea"/>
              </a:endParaRPr>
            </a:p>
            <a:p>
              <a:r>
                <a:rPr lang="en-US" altLang="zh-CN" sz="1400" b="1">
                  <a:sym typeface="+mn-ea"/>
                </a:rPr>
                <a:t>T</a:t>
              </a:r>
              <a:r>
                <a:rPr lang="zh-CN" altLang="en-US" sz="1400" b="1">
                  <a:sym typeface="+mn-ea"/>
                </a:rPr>
                <a:t>代表时间步</a:t>
              </a:r>
              <a:endParaRPr lang="zh-CN" altLang="en-US" sz="1400" b="1"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技术细节（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1412875"/>
            <a:ext cx="3543300" cy="523875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5520055" y="3213735"/>
            <a:ext cx="4144645" cy="1586865"/>
            <a:chOff x="8309" y="6194"/>
            <a:chExt cx="6527" cy="249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66" y="6194"/>
              <a:ext cx="6370" cy="102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09" y="7214"/>
              <a:ext cx="5960" cy="89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6" y="8123"/>
              <a:ext cx="5690" cy="57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3719195" y="1845310"/>
            <a:ext cx="816673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1600" b="1">
                <a:sym typeface="+mn-ea"/>
              </a:rPr>
              <a:t>时间流量切片</a:t>
            </a:r>
            <a:r>
              <a:rPr lang="en-US" altLang="zh-CN" sz="1600" b="1">
                <a:sym typeface="+mn-ea"/>
              </a:rPr>
              <a:t> (Temporal Traffic Slicing)</a:t>
            </a:r>
            <a:r>
              <a:rPr lang="zh-CN" altLang="en-US" sz="1600" b="1">
                <a:sym typeface="+mn-ea"/>
              </a:rPr>
              <a:t>：</a:t>
            </a:r>
            <a:r>
              <a:rPr lang="en-US" altLang="zh-CN" sz="1600" b="1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将</a:t>
            </a:r>
            <a:r>
              <a:rPr lang="zh-CN" altLang="en-US" sz="1600" b="1">
                <a:sym typeface="+mn-ea"/>
              </a:rPr>
              <a:t>长流切分为多个固定时长的子流，并继承原始标签。</a:t>
            </a:r>
            <a:r>
              <a:rPr lang="zh-CN" altLang="en-US" sz="1600">
                <a:sym typeface="+mn-ea"/>
              </a:rPr>
              <a:t>这既增加了样本数量，又迫使模型关注局部的细粒度时序动态</a:t>
            </a:r>
            <a:endParaRPr lang="zh-CN" altLang="en-US" sz="1600">
              <a:sym typeface="+mn-ea"/>
            </a:endParaRPr>
          </a:p>
          <a:p>
            <a:pPr indent="457200"/>
            <a:r>
              <a:rPr lang="zh-CN" altLang="en-US" sz="1600" b="1">
                <a:sym typeface="+mn-ea"/>
              </a:rPr>
              <a:t>特征聚合：</a:t>
            </a:r>
            <a:r>
              <a:rPr lang="zh-CN" altLang="en-US" sz="1600">
                <a:sym typeface="+mn-ea"/>
              </a:rPr>
              <a:t>通过将一个</a:t>
            </a:r>
            <a:r>
              <a:rPr lang="en-US" altLang="zh-CN" sz="1600">
                <a:sym typeface="+mn-ea"/>
              </a:rPr>
              <a:t>H</a:t>
            </a:r>
            <a:r>
              <a:rPr lang="zh-CN" altLang="en-US" sz="1600">
                <a:sym typeface="+mn-ea"/>
              </a:rPr>
              <a:t>序列中的所有向量聚合成一个向量，得到整个流的特征。将聚合后的向量输入进</a:t>
            </a:r>
            <a:r>
              <a:rPr lang="en-US" altLang="zh-CN" sz="1600">
                <a:sym typeface="+mn-ea"/>
              </a:rPr>
              <a:t>MLP</a:t>
            </a:r>
            <a:r>
              <a:rPr lang="zh-CN" altLang="en-US" sz="1600">
                <a:sym typeface="+mn-ea"/>
              </a:rPr>
              <a:t>分类头中，计算每个类别的概率。</a:t>
            </a:r>
            <a:endParaRPr lang="zh-CN" altLang="en-US" sz="16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40710" y="955040"/>
            <a:ext cx="8983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少样本微调</a:t>
            </a:r>
            <a:r>
              <a:rPr lang="en-US" altLang="zh-CN" b="1">
                <a:sym typeface="+mn-ea"/>
              </a:rPr>
              <a:t> (Few-shot Fine-tuning) </a:t>
            </a:r>
            <a:endParaRPr lang="en-US" altLang="zh-CN" b="1">
              <a:sym typeface="+mn-ea"/>
            </a:endParaRPr>
          </a:p>
          <a:p>
            <a:pPr indent="457200"/>
            <a:r>
              <a:rPr lang="zh-CN" altLang="en-US" b="1">
                <a:sym typeface="+mn-ea"/>
              </a:rPr>
              <a:t>针对网络安全领域标签稀缺（如零日攻击）的问题，作者设计了特定的微调策略。</a:t>
            </a:r>
            <a:endParaRPr lang="zh-CN" altLang="en-US" b="1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19830" y="5013325"/>
            <a:ext cx="81305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1600" b="1">
                <a:sym typeface="+mn-ea"/>
              </a:rPr>
              <a:t>分层学习率衰减：</a:t>
            </a:r>
            <a:r>
              <a:rPr lang="zh-CN" altLang="en-US" sz="1600">
                <a:sym typeface="+mn-ea"/>
              </a:rPr>
              <a:t>为了防止在微调时遗忘预训练学到的通用知识。作者动态更新学习率。</a:t>
            </a:r>
            <a:r>
              <a:rPr lang="zh-CN" altLang="en-US" sz="1600" b="1">
                <a:sym typeface="+mn-ea"/>
              </a:rPr>
              <a:t>按照</a:t>
            </a:r>
            <a:r>
              <a:rPr lang="zh-CN" altLang="en-US" sz="1600" b="1">
                <a:sym typeface="+mn-ea"/>
              </a:rPr>
              <a:t>浅层参数（负责通用语法）更新慢，深层参数（负责特定任务语义）更新快的法制。</a:t>
            </a:r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 rot="0">
            <a:off x="5087620" y="5589270"/>
            <a:ext cx="3549650" cy="709295"/>
            <a:chOff x="8239" y="8349"/>
            <a:chExt cx="5590" cy="1117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40" y="8349"/>
              <a:ext cx="1760" cy="52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39" y="8916"/>
              <a:ext cx="5590" cy="5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实验数据集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1124585"/>
            <a:ext cx="8682355" cy="5032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baseline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1196975"/>
            <a:ext cx="8115300" cy="4804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细节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980440"/>
            <a:ext cx="7639685" cy="5457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1196975"/>
            <a:ext cx="10267950" cy="4965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560" y="1196975"/>
            <a:ext cx="6206490" cy="49834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07260" y="900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对具体是哪一种攻击进行</a:t>
            </a:r>
            <a:r>
              <a:rPr lang="zh-CN" altLang="en-US">
                <a:sym typeface="+mn-ea"/>
              </a:rPr>
              <a:t>分类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83880" y="14852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FNR</a:t>
            </a:r>
            <a:r>
              <a:rPr lang="zh-CN" altLang="en-US">
                <a:sym typeface="+mn-ea"/>
              </a:rPr>
              <a:t>（漏报率）和</a:t>
            </a:r>
            <a:r>
              <a:rPr lang="en-US" altLang="zh-CN">
                <a:sym typeface="+mn-ea"/>
              </a:rPr>
              <a:t> FPR</a:t>
            </a:r>
            <a:r>
              <a:rPr lang="zh-CN" altLang="en-US">
                <a:sym typeface="+mn-ea"/>
              </a:rPr>
              <a:t>（误报率）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96225" y="486918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作者通过这张表格展示了模型在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真实世界长尾分布场景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下，针对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多模态异构网络攻击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细粒度识别能力，证明了</a:t>
            </a:r>
            <a:r>
              <a:rPr lang="en-US" altLang="zh-CN">
                <a:sym typeface="+mn-ea"/>
              </a:rPr>
              <a:t> Traffic-MoE </a:t>
            </a:r>
            <a:r>
              <a:rPr lang="zh-CN" altLang="en-US">
                <a:sym typeface="+mn-ea"/>
              </a:rPr>
              <a:t>架构在保证低误报的同时，对各类攻击（无论是大规模的</a:t>
            </a:r>
            <a:r>
              <a:rPr lang="en-US" altLang="zh-CN">
                <a:sym typeface="+mn-ea"/>
              </a:rPr>
              <a:t> DDoS </a:t>
            </a:r>
            <a:r>
              <a:rPr lang="zh-CN" altLang="en-US">
                <a:sym typeface="+mn-ea"/>
              </a:rPr>
              <a:t>还是隐蔽的</a:t>
            </a:r>
            <a:r>
              <a:rPr lang="en-US" altLang="zh-CN">
                <a:sym typeface="+mn-ea"/>
              </a:rPr>
              <a:t> Spoofing</a:t>
            </a:r>
            <a:r>
              <a:rPr lang="zh-CN" altLang="en-US">
                <a:sym typeface="+mn-ea"/>
              </a:rPr>
              <a:t>）均具有稳健的检测性能。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205" y="188595"/>
            <a:ext cx="6035040" cy="6610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80" y="0"/>
            <a:ext cx="984504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35" y="1268730"/>
            <a:ext cx="10604500" cy="520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605" y="815975"/>
            <a:ext cx="8345805" cy="5560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" y="1551940"/>
            <a:ext cx="10712450" cy="4086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116840"/>
            <a:ext cx="7035800" cy="6593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515" y="2277110"/>
            <a:ext cx="9643110" cy="45383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11225" y="1078230"/>
            <a:ext cx="112737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Time-shift </a:t>
            </a:r>
            <a:r>
              <a:rPr lang="zh-CN" altLang="en-US">
                <a:sym typeface="+mn-ea"/>
              </a:rPr>
              <a:t>指的是：训练数据与测试数据在时间维度上分离，导致流量行为的统计特性随时间发生变化。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Proportion-shift </a:t>
            </a:r>
            <a:r>
              <a:rPr lang="zh-CN" altLang="en-US">
                <a:sym typeface="+mn-ea"/>
              </a:rPr>
              <a:t>指的是：类别集合不变，但各类别在测试集中的出现比例与训练集显著不同。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Compose-shift </a:t>
            </a:r>
            <a:r>
              <a:rPr lang="zh-CN" altLang="en-US">
                <a:sym typeface="+mn-ea"/>
              </a:rPr>
              <a:t>指的是：测试集中出现了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训练阶段从未见过的攻击或流量子类组合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，但这些子类由已知的基本行为模式组成。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953770"/>
            <a:ext cx="10420350" cy="552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1341120"/>
            <a:ext cx="6105525" cy="47542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0" y="1268730"/>
            <a:ext cx="6028690" cy="4785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6022" y="0"/>
            <a:ext cx="648072" cy="1268760"/>
            <a:chOff x="316022" y="0"/>
            <a:chExt cx="648072" cy="1268760"/>
          </a:xfrm>
        </p:grpSpPr>
        <p:sp>
          <p:nvSpPr>
            <p:cNvPr id="9" name="矩形 8"/>
            <p:cNvSpPr/>
            <p:nvPr/>
          </p:nvSpPr>
          <p:spPr>
            <a:xfrm>
              <a:off x="316022" y="0"/>
              <a:ext cx="648072" cy="1268760"/>
            </a:xfrm>
            <a:prstGeom prst="rect">
              <a:avLst/>
            </a:prstGeom>
            <a:solidFill>
              <a:srgbClr val="B20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10" name="矩形 9"/>
            <p:cNvSpPr/>
            <p:nvPr/>
          </p:nvSpPr>
          <p:spPr>
            <a:xfrm>
              <a:off x="316022" y="980728"/>
              <a:ext cx="648072" cy="14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99456" y="493431"/>
            <a:ext cx="5400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764540"/>
            <a:ext cx="6843395" cy="5533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35.62913385826766,&quot;left&quot;:54.44795275590551,&quot;top&quot;:127.14818897637795,&quot;width&quot;:851.1040157480314}"/>
</p:tagLst>
</file>

<file path=ppt/tags/tag2.xml><?xml version="1.0" encoding="utf-8"?>
<p:tagLst xmlns:p="http://schemas.openxmlformats.org/presentationml/2006/main">
  <p:tag name="KSO_WM_DIAGRAM_VIRTUALLY_FRAME" val="{&quot;height&quot;:335.62913385826766,&quot;left&quot;:54.44795275590551,&quot;top&quot;:127.14818897637795,&quot;width&quot;:851.1040157480314}"/>
</p:tagLst>
</file>

<file path=ppt/tags/tag3.xml><?xml version="1.0" encoding="utf-8"?>
<p:tagLst xmlns:p="http://schemas.openxmlformats.org/presentationml/2006/main">
  <p:tag name="KSO_WM_DIAGRAM_VIRTUALLY_FRAME" val="{&quot;height&quot;:335.62913385826766,&quot;left&quot;:54.44795275590551,&quot;top&quot;:127.14818897637795,&quot;width&quot;:851.1040157480314}"/>
</p:tagLst>
</file>

<file path=ppt/tags/tag4.xml><?xml version="1.0" encoding="utf-8"?>
<p:tagLst xmlns:p="http://schemas.openxmlformats.org/presentationml/2006/main">
  <p:tag name="KSO_WM_DIAGRAM_VIRTUALLY_FRAME" val="{&quot;height&quot;:335.62913385826766,&quot;left&quot;:54.44795275590551,&quot;top&quot;:127.14818897637795,&quot;width&quot;:851.1040157480314}"/>
</p:tagLst>
</file>

<file path=ppt/tags/tag5.xml><?xml version="1.0" encoding="utf-8"?>
<p:tagLst xmlns:p="http://schemas.openxmlformats.org/presentationml/2006/main">
  <p:tag name="KSO_WM_DIAGRAM_VIRTUALLY_FRAME" val="{&quot;height&quot;:335.62913385826766,&quot;left&quot;:54.44795275590551,&quot;top&quot;:127.14818897637795,&quot;width&quot;:851.1040157480314}"/>
</p:tagLst>
</file>

<file path=ppt/tags/tag6.xml><?xml version="1.0" encoding="utf-8"?>
<p:tagLst xmlns:p="http://schemas.openxmlformats.org/presentationml/2006/main">
  <p:tag name="KSO_WM_DIAGRAM_VIRTUALLY_FRAME" val="{&quot;height&quot;:335.62913385826766,&quot;left&quot;:54.44795275590551,&quot;top&quot;:127.14818897637795,&quot;width&quot;:851.1040157480314}"/>
</p:tagLst>
</file>

<file path=ppt/tags/tag7.xml><?xml version="1.0" encoding="utf-8"?>
<p:tagLst xmlns:p="http://schemas.openxmlformats.org/presentationml/2006/main">
  <p:tag name="KSO_WM_DIAGRAM_VIRTUALLY_FRAME" val="{&quot;height&quot;:393.5554330708661,&quot;left&quot;:54.44795275590551,&quot;top&quot;:127.14818897637795,&quot;width&quot;:851.1040157480314}"/>
</p:tagLst>
</file>

<file path=ppt/tags/tag8.xml><?xml version="1.0" encoding="utf-8"?>
<p:tagLst xmlns:p="http://schemas.openxmlformats.org/presentationml/2006/main">
  <p:tag name="KSO_WM_DIAGRAM_VIRTUALLY_FRAME" val="{&quot;height&quot;:393.5554330708661,&quot;left&quot;:54.44795275590551,&quot;top&quot;:127.14818897637795,&quot;width&quot;:851.1040157480314}"/>
</p:tagLst>
</file>

<file path=ppt/tags/tag9.xml><?xml version="1.0" encoding="utf-8"?>
<p:tagLst xmlns:p="http://schemas.openxmlformats.org/presentationml/2006/main">
  <p:tag name="KSO_WM_DIAGRAM_VIRTUALLY_FRAME" val="{&quot;height&quot;:393.5554330708661,&quot;left&quot;:54.44795275590551,&quot;top&quot;:127.14818897637795,&quot;width&quot;:851.1040157480314}"/>
</p:tagLst>
</file>

<file path=ppt/tags/tag10.xml><?xml version="1.0" encoding="utf-8"?>
<p:tagLst xmlns:p="http://schemas.openxmlformats.org/presentationml/2006/main">
  <p:tag name="KSO_WM_DIAGRAM_VIRTUALLY_FRAME" val="{&quot;height&quot;:393.5554330708661,&quot;left&quot;:54.44795275590551,&quot;top&quot;:127.14818897637795,&quot;width&quot;:851.1040157480314}"/>
</p:tagLst>
</file>

<file path=ppt/tags/tag11.xml><?xml version="1.0" encoding="utf-8"?>
<p:tagLst xmlns:p="http://schemas.openxmlformats.org/presentationml/2006/main">
  <p:tag name="KSO_WM_DIAGRAM_VIRTUALLY_FRAME" val="{&quot;height&quot;:393.5554330708661,&quot;left&quot;:54.44795275590551,&quot;top&quot;:127.14818897637795,&quot;width&quot;:851.1040157480314}"/>
</p:tagLst>
</file>

<file path=ppt/tags/tag12.xml><?xml version="1.0" encoding="utf-8"?>
<p:tagLst xmlns:p="http://schemas.openxmlformats.org/presentationml/2006/main">
  <p:tag name="KSO_WM_DIAGRAM_VIRTUALLY_FRAME" val="{&quot;height&quot;:393.5554330708661,&quot;left&quot;:54.44795275590551,&quot;top&quot;:127.14818897637795,&quot;width&quot;:851.1040157480314}"/>
</p:tagLst>
</file>

<file path=ppt/tags/tag13.xml><?xml version="1.0" encoding="utf-8"?>
<p:tagLst xmlns:p="http://schemas.openxmlformats.org/presentationml/2006/main">
  <p:tag name="KSO_WPP_MARK_KEY" val="7aecd5d9-4e3f-46c6-9f40-c76196cf84c6"/>
  <p:tag name="COMMONDATA" val="eyJoZGlkIjoiNjFlNjI5YTU5OWE0Mjg4NmI0YjdkOWI4ODA2MzlkN2EifQ==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2164</Words>
  <Application>WPS 演示</Application>
  <PresentationFormat>宽屏</PresentationFormat>
  <Paragraphs>125</Paragraphs>
  <Slides>30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53" baseType="lpstr">
      <vt:lpstr>Arial</vt:lpstr>
      <vt:lpstr>宋体</vt:lpstr>
      <vt:lpstr>Wingdings</vt:lpstr>
      <vt:lpstr>Comic Sans MS</vt:lpstr>
      <vt:lpstr>微软雅黑</vt:lpstr>
      <vt:lpstr>Hei</vt:lpstr>
      <vt:lpstr>Menlo Regular</vt:lpstr>
      <vt:lpstr>Arial</vt:lpstr>
      <vt:lpstr>Calibri</vt:lpstr>
      <vt:lpstr>Times New Roman</vt:lpstr>
      <vt:lpstr>仿宋</vt:lpstr>
      <vt:lpstr>等线</vt:lpstr>
      <vt:lpstr>Arial Unicode MS</vt:lpstr>
      <vt:lpstr>Calibri Light</vt:lpstr>
      <vt:lpstr>Segoe Print</vt:lpstr>
      <vt:lpstr>Calibri</vt:lpstr>
      <vt:lpstr>Cambria Math</vt:lpstr>
      <vt:lpstr>等线 Light</vt:lpstr>
      <vt:lpstr>Hei</vt:lpstr>
      <vt:lpstr>Heebo</vt:lpstr>
      <vt:lpstr>Oxford Regular</vt:lpstr>
      <vt:lpstr>1_自定义设计方案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曾渝翔</dc:creator>
  <cp:lastModifiedBy>Unique</cp:lastModifiedBy>
  <cp:revision>5153</cp:revision>
  <dcterms:created xsi:type="dcterms:W3CDTF">2024-02-29T06:45:00Z</dcterms:created>
  <dcterms:modified xsi:type="dcterms:W3CDTF">2026-01-28T10:57:17Z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/>
  </property>
</Properties>
</file>